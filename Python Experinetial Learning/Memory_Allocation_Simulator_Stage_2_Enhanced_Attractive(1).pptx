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3"/>
    <p:sldId id="266" r:id="rId1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25" userDrawn="1">
          <p15:clr>
            <a:srgbClr val="A4A3A4"/>
          </p15:clr>
        </p15:guide>
        <p15:guide id="2" pos="21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7" d="100"/>
          <a:sy n="77" d="100"/>
        </p:scale>
        <p:origin x="1618" y="43"/>
      </p:cViewPr>
      <p:guideLst>
        <p:guide orient="horz" pos="2825"/>
        <p:guide pos="214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19DCD-CAE8-4840-8210-AFC5902F3D0E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DEAA1-4CBC-4FE1-9E3F-6D286C73C82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S. B. Jain Institute of Technology Management and research</a:t>
            </a:r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FDC41D-5DB3-4DCC-BB96-8EDBCE957C79}" type="datetime1">
              <a:rPr lang="en-US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S. B. Jain Institute of Technology Management and research</a:t>
            </a:r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CAA39-50F9-4143-BD3D-A7B74EBF91AB}" type="datetime1">
              <a:rPr lang="en-US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S. B. Jain Institute of Technology Management and research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CD0D3-511A-4ECF-9497-11CBCBF09FFE}" type="datetime1">
              <a:rPr lang="en-US" smtClean="0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S. B. Jain Institute of Technology Management and research</a:t>
            </a:r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A6FCC1-83CC-45A7-945E-BD22844077D3}" type="datetime1">
              <a:rPr lang="en-US" smtClean="0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S. B. Jain Institute of Technology Management and research</a:t>
            </a:r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E8E68-AA93-4173-9C1C-7952BECC7BAE}" type="datetime1">
              <a:rPr lang="en-US" smtClean="0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49" y="309880"/>
                </a:moveTo>
                <a:lnTo>
                  <a:pt x="0" y="309880"/>
                </a:lnTo>
                <a:lnTo>
                  <a:pt x="0" y="0"/>
                </a:lnTo>
                <a:lnTo>
                  <a:pt x="8832849" y="0"/>
                </a:lnTo>
                <a:lnTo>
                  <a:pt x="8832849" y="309880"/>
                </a:lnTo>
                <a:close/>
              </a:path>
            </a:pathLst>
          </a:custGeom>
          <a:solidFill>
            <a:srgbClr val="8BAB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89" y="6546849"/>
                </a:moveTo>
                <a:lnTo>
                  <a:pt x="0" y="6546849"/>
                </a:lnTo>
                <a:lnTo>
                  <a:pt x="0" y="0"/>
                </a:lnTo>
                <a:lnTo>
                  <a:pt x="8832849" y="0"/>
                </a:lnTo>
                <a:lnTo>
                  <a:pt x="8832849" y="6546849"/>
                </a:lnTo>
                <a:lnTo>
                  <a:pt x="4415789" y="6546849"/>
                </a:lnTo>
                <a:close/>
              </a:path>
            </a:pathLst>
          </a:custGeom>
          <a:ln w="9524">
            <a:solidFill>
              <a:srgbClr val="7997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8426" y="2896496"/>
            <a:ext cx="3082925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S. B. Jain Institute of Technology Management and research</a:t>
            </a:r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04556-BBB4-4BAB-BC77-FF3C96C3283A}" type="datetime1">
              <a:rPr lang="en-US" smtClean="0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80185" y="285115"/>
            <a:ext cx="6950710" cy="183896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br>
              <a:rPr sz="320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</a:br>
            <a:r>
              <a:rPr sz="320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Experiential</a:t>
            </a:r>
            <a:r>
              <a:rPr sz="3200" spc="-6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Learning </a:t>
            </a:r>
            <a:r>
              <a:rPr sz="3200" spc="-2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3200" spc="-3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3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Assessment-</a:t>
            </a:r>
            <a:r>
              <a:rPr sz="3200" spc="-5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I </a:t>
            </a:r>
            <a:r>
              <a:rPr sz="3200" spc="-2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on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  <a:p>
            <a:pPr marL="2540" algn="ctr">
              <a:lnSpc>
                <a:spcPct val="100000"/>
              </a:lnSpc>
            </a:pPr>
            <a:r>
              <a:rPr sz="320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“</a:t>
            </a:r>
            <a:r>
              <a:rPr sz="3200" spc="-14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200" spc="-14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Memory Allocation Simulator </a:t>
            </a:r>
            <a:r>
              <a:rPr sz="3200" spc="-1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”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5150" y="2238120"/>
            <a:ext cx="6595109" cy="820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under</a:t>
            </a:r>
            <a:r>
              <a:rPr sz="2800" b="1" spc="-12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800" b="1" spc="-7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spc="-1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course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4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Python</a:t>
            </a:r>
            <a:r>
              <a:rPr sz="2400" b="1" spc="-9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Programming</a:t>
            </a:r>
            <a:r>
              <a:rPr sz="2400" b="1" spc="-9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Language</a:t>
            </a:r>
            <a:r>
              <a:rPr sz="2400" b="1" spc="-9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spc="-2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(N-</a:t>
            </a:r>
            <a:r>
              <a:rPr sz="2400" b="1" spc="-1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PCCCM304P)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9570" y="3310890"/>
            <a:ext cx="1917700" cy="111125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2000" b="1" spc="-10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By</a:t>
            </a:r>
            <a:endParaRPr sz="2000" b="1" spc="-25" dirty="0">
              <a:solidFill>
                <a:srgbClr val="26303C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20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Suhani D Kadu</a:t>
            </a:r>
            <a:endParaRPr lang="en-US" altLang="en-US" sz="2000" b="1" dirty="0">
              <a:solidFill>
                <a:srgbClr val="26303C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20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(CM25114)</a:t>
            </a:r>
            <a:endParaRPr lang="en-US" altLang="en-US" sz="2000" b="1" dirty="0">
              <a:solidFill>
                <a:srgbClr val="26303C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9716" y="3292240"/>
            <a:ext cx="22193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4570" marR="5080" indent="-99250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Under</a:t>
            </a:r>
            <a:r>
              <a:rPr sz="2000" b="1" spc="-8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000" b="1" spc="-4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Guidance </a:t>
            </a:r>
            <a:r>
              <a:rPr sz="2000" b="1" spc="-2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0955">
              <a:lnSpc>
                <a:spcPct val="100000"/>
              </a:lnSpc>
            </a:pPr>
            <a:r>
              <a:rPr sz="20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Mrs.</a:t>
            </a:r>
            <a:r>
              <a:rPr sz="2000" b="1" spc="-1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Mayuri</a:t>
            </a:r>
            <a:r>
              <a:rPr sz="2000" b="1" spc="-1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Getme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838575" y="3286617"/>
            <a:ext cx="1455566" cy="102441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26697" y="4662423"/>
            <a:ext cx="7976870" cy="203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521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Session:2026-</a:t>
            </a:r>
            <a:r>
              <a:rPr sz="22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27</a:t>
            </a:r>
            <a:r>
              <a:rPr sz="2200" b="1" spc="-5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(ODD</a:t>
            </a:r>
            <a:r>
              <a:rPr sz="2200" b="1" spc="-5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)</a:t>
            </a:r>
            <a:endParaRPr sz="2200" dirty="0">
              <a:latin typeface="Times New Roman" panose="02020603050405020304"/>
              <a:cs typeface="Times New Roman" panose="02020603050405020304"/>
            </a:endParaRPr>
          </a:p>
          <a:p>
            <a:pPr marL="2287905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Department</a:t>
            </a:r>
            <a:r>
              <a:rPr sz="1800" b="1" spc="-5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800" b="1" spc="-5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CSE(AI&amp;ML)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2340"/>
              </a:lnSpc>
              <a:spcBef>
                <a:spcPts val="635"/>
              </a:spcBef>
            </a:pPr>
            <a:r>
              <a:rPr sz="20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S.</a:t>
            </a:r>
            <a:r>
              <a:rPr sz="2000" b="1" spc="-3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B.</a:t>
            </a:r>
            <a:r>
              <a:rPr sz="2000" b="1" spc="-1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JAIN</a:t>
            </a:r>
            <a:r>
              <a:rPr sz="2000" b="1" spc="-2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2000" b="1" spc="-2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12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TECHNOLOGY</a:t>
            </a:r>
            <a:r>
              <a:rPr sz="2000" b="1" spc="-9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sz="2000" b="1" spc="-15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2265045">
              <a:lnSpc>
                <a:spcPts val="2255"/>
              </a:lnSpc>
            </a:pPr>
            <a:r>
              <a:rPr sz="2000" b="1" spc="-1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RESEARCH,NAGPUR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481330">
              <a:lnSpc>
                <a:spcPts val="2315"/>
              </a:lnSpc>
            </a:pPr>
            <a:r>
              <a:rPr sz="2000" b="1" spc="-2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2000" b="1" spc="-114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Autonomous</a:t>
            </a:r>
            <a:r>
              <a:rPr sz="2000" b="1" spc="-7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Institute,</a:t>
            </a:r>
            <a:r>
              <a:rPr sz="2000" b="1" spc="-12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Affiliated</a:t>
            </a:r>
            <a:r>
              <a:rPr sz="2000" b="1" spc="-3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000" b="1" spc="-3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RTMNU,</a:t>
            </a:r>
            <a:r>
              <a:rPr sz="2000" b="1" spc="-35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26303C"/>
                </a:solidFill>
                <a:latin typeface="Times New Roman" panose="02020603050405020304"/>
                <a:cs typeface="Times New Roman" panose="02020603050405020304"/>
              </a:rPr>
              <a:t>Nagpur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1770"/>
              </a:spcBef>
            </a:pPr>
            <a:r>
              <a:rPr sz="1400" b="1" spc="-50" dirty="0">
                <a:solidFill>
                  <a:srgbClr val="26303C"/>
                </a:solidFill>
                <a:latin typeface="Arial" panose="020B0604020202020204"/>
                <a:cs typeface="Arial" panose="020B0604020202020204"/>
              </a:rPr>
              <a:t>)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0432" y="6401392"/>
            <a:ext cx="6412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rgbClr val="26303C"/>
                </a:solidFill>
                <a:latin typeface="Aptos"/>
              </a:rPr>
              <a:t>S. B. Jain Institute of Technology Management and research</a:t>
            </a:r>
            <a:endParaRPr lang="en-US" sz="1800" dirty="0">
              <a:solidFill>
                <a:srgbClr val="26303C"/>
              </a:solidFill>
              <a:latin typeface="Aptos"/>
            </a:endParaRPr>
          </a:p>
          <a:p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2E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16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Problem Statement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652760" y="301752"/>
            <a:ext cx="5943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02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758952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56032" rIns="320040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PROJECT REQUIREMENT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Create a memory allocation simulator using linked lists to manage free and allocated memory blocks and demonstrate basic concepts of memory management.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68680" y="3977639"/>
            <a:ext cx="1737360" cy="8686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FREE | 300 KB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910840" y="3977640"/>
            <a:ext cx="1386840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P1 | 200 KB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645025" y="3977640"/>
            <a:ext cx="2253615" cy="8686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FREE | 500 KB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099300" y="3977640"/>
            <a:ext cx="1584325" cy="868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P2 | 150 KB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7517765" cy="5334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Linked List  →  Find free block  →  Allocate / Deallocate  →  Update memory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>
          <a:xfrm>
            <a:off x="0" y="6377940"/>
            <a:ext cx="6477000" cy="27699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ptos"/>
              </a:rPr>
              <a:t>S. B. Jain Institute of Technology Management and research</a:t>
            </a:r>
            <a:endParaRPr lang="en-US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2E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16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Objectives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652760" y="301752"/>
            <a:ext cx="5943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03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7373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01  Memory Management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11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Understand allocation and deallocation.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4864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0" y="1295400"/>
            <a:ext cx="2038985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02  Linked List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11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Represent free and allocated blocks.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76600" y="1234440"/>
            <a:ext cx="54864" cy="1783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21730" y="1234440"/>
            <a:ext cx="17373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03  Process Simulation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11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Assign and release memory for processes.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48400" y="1234440"/>
            <a:ext cx="54864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7373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04  Block Tracking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11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Track size and status of each block.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54864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25800" y="3657600"/>
            <a:ext cx="2254885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05  Core Concepts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11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Demonstrate basic memory management.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01035" y="3657600"/>
            <a:ext cx="76200" cy="1630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9840" y="3657600"/>
            <a:ext cx="2279650" cy="197548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06  Python Logic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11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Apply Python to a practical problem.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 flipH="1">
            <a:off x="6248400" y="3733800"/>
            <a:ext cx="76200" cy="1783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>
          <a:xfrm>
            <a:off x="-21336" y="6377940"/>
            <a:ext cx="6574536" cy="27699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ptos"/>
              </a:rPr>
              <a:t>S. B. Jain Institute of Technology Management and research</a:t>
            </a:r>
            <a:endParaRPr lang="en-US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2E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16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Algorithm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652760" y="301752"/>
            <a:ext cx="5943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04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585216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rPr dirty="0">
                <a:solidFill>
                  <a:srgbClr val="232B34"/>
                </a:solidFill>
                <a:latin typeface="Aptos"/>
              </a:rPr>
              <a:t>Memory Allocation Simulator  •  Python</a:t>
            </a:r>
            <a:endParaRPr dirty="0">
              <a:solidFill>
                <a:srgbClr val="232B34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16459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1. Initialize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Set total memory size.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188720"/>
            <a:ext cx="54864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82875" y="1188720"/>
            <a:ext cx="1939925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2. Create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Create initial free block.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0" y="1188720"/>
            <a:ext cx="54864" cy="1783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34915" y="1188720"/>
            <a:ext cx="1757680" cy="16681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3. Input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Enter process ID and size.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18405" y="1219200"/>
            <a:ext cx="76200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96125" y="1188720"/>
            <a:ext cx="154368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4. Search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Traverse the linked list.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086600" y="1188720"/>
            <a:ext cx="54864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17373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5. Allocate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Update the selected block.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4360" y="3611880"/>
            <a:ext cx="54864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37180" y="3611880"/>
            <a:ext cx="16459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6. Deallocate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Release a completed process.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82570" y="3611880"/>
            <a:ext cx="54864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60595" y="3611880"/>
            <a:ext cx="15544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7. Merge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Combine adjacent free blocks.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800600" y="3581400"/>
            <a:ext cx="54864" cy="1783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52945" y="3611880"/>
            <a:ext cx="15544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8. Display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Show updated memory status.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031990" y="3611880"/>
            <a:ext cx="54864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5"/>
          </p:nvPr>
        </p:nvSpPr>
        <p:spPr>
          <a:xfrm>
            <a:off x="152400" y="6412230"/>
            <a:ext cx="6412610" cy="27699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ptos"/>
              </a:rPr>
              <a:t>S. B. Jain Institute of Technology Management and research</a:t>
            </a:r>
            <a:endParaRPr lang="en-US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2E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16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Flowchart / Pseudocode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652760" y="301752"/>
            <a:ext cx="5943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05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51860" y="1002991"/>
            <a:ext cx="2240280" cy="475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dirty="0">
                <a:solidFill>
                  <a:srgbClr val="232B34"/>
                </a:solidFill>
                <a:latin typeface="Aptos"/>
              </a:rPr>
              <a:t>START</a:t>
            </a:r>
            <a:endParaRPr dirty="0">
              <a:solidFill>
                <a:srgbClr val="232B34"/>
              </a:solidFill>
              <a:latin typeface="Aptos"/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4323190" y="1507238"/>
            <a:ext cx="274320" cy="2286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15417" y="1804947"/>
            <a:ext cx="22402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Initialize Memory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4323190" y="2274932"/>
            <a:ext cx="274320" cy="2286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15417" y="2700262"/>
            <a:ext cx="2240280" cy="47548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Create Linked List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4286747" y="3143880"/>
            <a:ext cx="274320" cy="2286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5417" y="3518650"/>
            <a:ext cx="224028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Input Process &amp; Size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4286747" y="4041681"/>
            <a:ext cx="274320" cy="2286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15417" y="4352544"/>
            <a:ext cx="2240280" cy="47548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Find FREE Block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5" name="Diamond 14"/>
          <p:cNvSpPr/>
          <p:nvPr/>
        </p:nvSpPr>
        <p:spPr>
          <a:xfrm>
            <a:off x="3669527" y="4846320"/>
            <a:ext cx="1508760" cy="713232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AVAILABLE?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828800" y="5597321"/>
            <a:ext cx="20116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NO → ERROR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953000" y="5597321"/>
            <a:ext cx="20116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YES → ALLOCATE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>
          <a:xfrm>
            <a:off x="76200" y="6377940"/>
            <a:ext cx="6400800" cy="27699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ptos"/>
              </a:rPr>
              <a:t>S. B. Jain Institute of Technology Management and research</a:t>
            </a:r>
            <a:endParaRPr lang="en-US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2E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16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Understanding of Python Logic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652760" y="301752"/>
            <a:ext cx="5943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06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011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MemoryBlock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11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Represents each memory block.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4864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380744"/>
            <a:ext cx="10058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CLASS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973705" y="1234440"/>
            <a:ext cx="21945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next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11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Connects blocks dynamically.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941320" y="1371600"/>
            <a:ext cx="54864" cy="1783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93415" y="1468755"/>
            <a:ext cx="1402080" cy="300355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LINKED LIST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12765" y="1234440"/>
            <a:ext cx="26517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for / while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11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Traverses blocks to find memory.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12765" y="1219200"/>
            <a:ext cx="54864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78525" y="1380490"/>
            <a:ext cx="1261110" cy="41275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LOOPS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1920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if / else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11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Checks whether a block is suitable.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1520" y="3657600"/>
            <a:ext cx="54864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3803904"/>
            <a:ext cx="100584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CONDITIONS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137535" y="3657600"/>
            <a:ext cx="19329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allocate()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11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Handles allocation and deallocation.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9" name="Rectangle 18"/>
          <p:cNvSpPr/>
          <p:nvPr/>
        </p:nvSpPr>
        <p:spPr>
          <a:xfrm flipH="1">
            <a:off x="3087370" y="3657600"/>
            <a:ext cx="85725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09035" y="3864610"/>
            <a:ext cx="772160" cy="248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FUNCTIONS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78525" y="3657600"/>
            <a:ext cx="2286635" cy="16535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size / ID / status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11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Stores block information.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43600" y="3657600"/>
            <a:ext cx="54864" cy="17830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87769" y="3803904"/>
            <a:ext cx="1005840" cy="2926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DATA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>
          <a:xfrm>
            <a:off x="131064" y="6377940"/>
            <a:ext cx="6345936" cy="27699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ptos"/>
              </a:rPr>
              <a:t>S. B. Jain Institute of Technology Management and research</a:t>
            </a:r>
            <a:endParaRPr lang="en-US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2E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16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GitHub &amp; Project Contribution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652760" y="301752"/>
            <a:ext cx="5943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07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6" name="Oval 5"/>
          <p:cNvSpPr/>
          <p:nvPr/>
        </p:nvSpPr>
        <p:spPr>
          <a:xfrm>
            <a:off x="777240" y="111556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01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481328" y="1088136"/>
            <a:ext cx="3840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Repository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Create a dedicated project repository.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81328" y="1088136"/>
            <a:ext cx="5486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02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481328" y="2029968"/>
            <a:ext cx="3840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Upload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Add Python source code and project files.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481328" y="2029968"/>
            <a:ext cx="5486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999232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03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481328" y="2971800"/>
            <a:ext cx="3840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Commits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Use meaningful commit messages.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481328" y="2971800"/>
            <a:ext cx="5486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3941063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04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481328" y="3913631"/>
            <a:ext cx="3840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Collaboration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Work together through GitHub.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481328" y="3913631"/>
            <a:ext cx="5486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4882896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05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481328" y="4855464"/>
            <a:ext cx="3840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46304"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Contribution</a:t>
            </a:r>
            <a:endParaRPr>
              <a:solidFill>
                <a:srgbClr val="232B34"/>
              </a:solidFill>
              <a:latin typeface="Aptos"/>
            </a:endParaRP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Show individual work clearly.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481328" y="4855464"/>
            <a:ext cx="5486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>
          <a:xfrm>
            <a:off x="131064" y="6377940"/>
            <a:ext cx="6422136" cy="342900"/>
          </a:xfrm>
        </p:spPr>
        <p:txBody>
          <a:bodyPr/>
          <a:lstStyle/>
          <a:p>
            <a:r>
              <a:rPr lang="en-US" dirty="0">
                <a:solidFill>
                  <a:srgbClr val="232B34"/>
                </a:solidFill>
                <a:latin typeface="Aptos"/>
              </a:rPr>
              <a:t>S. B. Jain Institute of Technology Management and research</a:t>
            </a:r>
            <a:endParaRPr lang="en-US" dirty="0">
              <a:solidFill>
                <a:srgbClr val="232B34"/>
              </a:solidFill>
              <a:latin typeface="Apto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2E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16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52760" y="301752"/>
            <a:ext cx="59436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75569"/>
                </a:solidFill>
              </a:defRPr>
            </a:pPr>
            <a:r>
              <a:rPr>
                <a:solidFill>
                  <a:srgbClr val="232B34"/>
                </a:solidFill>
                <a:latin typeface="Aptos"/>
              </a:rPr>
              <a:t>08</a:t>
            </a:r>
            <a:endParaRPr>
              <a:solidFill>
                <a:srgbClr val="232B34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685800" y="2133600"/>
            <a:ext cx="10058400" cy="1645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</a:defRPr>
            </a:pPr>
            <a:r>
              <a:rPr dirty="0">
                <a:solidFill>
                  <a:srgbClr val="232B34"/>
                </a:solidFill>
                <a:latin typeface="Aptos"/>
              </a:rPr>
              <a:t>Thank You</a:t>
            </a:r>
            <a:endParaRPr dirty="0">
              <a:solidFill>
                <a:srgbClr val="232B34"/>
              </a:solidFill>
              <a:latin typeface="Aptos"/>
            </a:endParaRPr>
          </a:p>
          <a:p>
            <a:pPr algn="ctr">
              <a:defRPr sz="2000">
                <a:solidFill>
                  <a:srgbClr val="2563EB"/>
                </a:solidFill>
              </a:defRPr>
            </a:pPr>
            <a:r>
              <a:rPr dirty="0">
                <a:solidFill>
                  <a:srgbClr val="232B34"/>
                </a:solidFill>
                <a:latin typeface="Aptos"/>
              </a:rPr>
              <a:t>Questions &amp; Discussion</a:t>
            </a:r>
            <a:endParaRPr dirty="0">
              <a:solidFill>
                <a:srgbClr val="232B34"/>
              </a:solidFill>
              <a:latin typeface="Apto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5"/>
          </p:nvPr>
        </p:nvSpPr>
        <p:spPr>
          <a:xfrm>
            <a:off x="76200" y="6377940"/>
            <a:ext cx="6400800" cy="27699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ptos"/>
              </a:rPr>
              <a:t>S. B. Jain Institute of Technology Management and research</a:t>
            </a:r>
            <a:endParaRPr lang="en-US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2E6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16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1A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412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B48"/>
                </a:solidFill>
              </a:defRPr>
            </a:pPr>
            <a:r>
              <a:t>Stage 2 – Algorithm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78992"/>
            <a:ext cx="411480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7845" y="1280160"/>
            <a:ext cx="76200" cy="3204845"/>
          </a:xfrm>
          <a:prstGeom prst="roundRect">
            <a:avLst/>
          </a:prstGeom>
          <a:solidFill>
            <a:srgbClr val="317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243584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A2B48"/>
                </a:solidFill>
              </a:defRPr>
            </a:pPr>
            <a:r>
              <a:t>Allocation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7095" y="1883410"/>
            <a:ext cx="3404235" cy="26015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  <a:defRPr sz="1220">
                <a:solidFill>
                  <a:srgbClr val="354152"/>
                </a:solidFill>
              </a:defRPr>
            </a:pPr>
            <a:r>
              <a:t>1. Start from the head of the linked list.</a:t>
            </a:r>
          </a:p>
          <a:p>
            <a:pPr>
              <a:spcAft>
                <a:spcPts val="600"/>
              </a:spcAft>
              <a:defRPr sz="1220">
                <a:solidFill>
                  <a:srgbClr val="354152"/>
                </a:solidFill>
              </a:defRPr>
            </a:pPr>
            <a:r>
              <a:t>2. Traverse each memory block.</a:t>
            </a:r>
          </a:p>
          <a:p>
            <a:pPr>
              <a:spcAft>
                <a:spcPts val="600"/>
              </a:spcAft>
              <a:defRPr sz="1220">
                <a:solidFill>
                  <a:srgbClr val="354152"/>
                </a:solidFill>
              </a:defRPr>
            </a:pPr>
            <a:r>
              <a:t>3. Check: block is FREE and size ≥ requested size.</a:t>
            </a:r>
          </a:p>
          <a:p>
            <a:pPr>
              <a:spcAft>
                <a:spcPts val="600"/>
              </a:spcAft>
              <a:defRPr sz="1220">
                <a:solidFill>
                  <a:srgbClr val="354152"/>
                </a:solidFill>
              </a:defRPr>
            </a:pPr>
            <a:r>
              <a:t>4. If larger, split into allocated + FREE blocks.</a:t>
            </a:r>
          </a:p>
          <a:p>
            <a:pPr>
              <a:spcAft>
                <a:spcPts val="600"/>
              </a:spcAft>
              <a:defRPr sz="1220">
                <a:solidFill>
                  <a:srgbClr val="354152"/>
                </a:solidFill>
              </a:defRPr>
            </a:pPr>
            <a:r>
              <a:t>5. Set block size and assign the process ID.</a:t>
            </a:r>
          </a:p>
          <a:p>
            <a:pPr>
              <a:spcAft>
                <a:spcPts val="600"/>
              </a:spcAft>
              <a:defRPr sz="1220">
                <a:solidFill>
                  <a:srgbClr val="354152"/>
                </a:solidFill>
              </a:defRPr>
            </a:pPr>
            <a:r>
              <a:t>6. Print allocation success and return True.</a:t>
            </a:r>
          </a:p>
          <a:p>
            <a:pPr>
              <a:spcAft>
                <a:spcPts val="600"/>
              </a:spcAft>
              <a:defRPr sz="1220">
                <a:solidFill>
                  <a:srgbClr val="354152"/>
                </a:solidFill>
              </a:defRPr>
            </a:pPr>
            <a:r>
              <a:t>7. If no suitable block exists, print an error and return False.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445" y="1078865"/>
            <a:ext cx="3559175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01260" y="1371600"/>
            <a:ext cx="76200" cy="3040380"/>
          </a:xfrm>
          <a:prstGeom prst="roundRect">
            <a:avLst/>
          </a:prstGeom>
          <a:solidFill>
            <a:srgbClr val="2C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81650" y="1243330"/>
            <a:ext cx="3383280" cy="315023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900" b="1">
                <a:solidFill>
                  <a:srgbClr val="1A2B48"/>
                </a:solidFill>
              </a:defRPr>
            </a:pPr>
            <a:r>
              <a:t>Deallocation 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2395" y="1883410"/>
            <a:ext cx="4774565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  <a:defRPr sz="1220">
                <a:solidFill>
                  <a:srgbClr val="354152"/>
                </a:solidFill>
              </a:defRPr>
            </a:pPr>
            <a:r>
              <a:t>1. Start from the head of the linked list.</a:t>
            </a:r>
          </a:p>
          <a:p>
            <a:pPr>
              <a:spcAft>
                <a:spcPts val="600"/>
              </a:spcAft>
              <a:defRPr sz="1220">
                <a:solidFill>
                  <a:srgbClr val="354152"/>
                </a:solidFill>
              </a:defRPr>
            </a:pPr>
            <a:r>
              <a:t>2. Traverse blocks to find the process ID.</a:t>
            </a:r>
          </a:p>
          <a:p>
            <a:pPr>
              <a:spcAft>
                <a:spcPts val="600"/>
              </a:spcAft>
              <a:defRPr sz="1220">
                <a:solidFill>
                  <a:srgbClr val="354152"/>
                </a:solidFill>
              </a:defRPr>
            </a:pPr>
            <a:r>
              <a:t>3. When found, set process = None.</a:t>
            </a:r>
          </a:p>
          <a:p>
            <a:pPr>
              <a:spcAft>
                <a:spcPts val="600"/>
              </a:spcAft>
              <a:defRPr sz="1220">
                <a:solidFill>
                  <a:srgbClr val="354152"/>
                </a:solidFill>
              </a:defRPr>
            </a:pPr>
            <a:r>
              <a:t>4. Print that the process memory is released.</a:t>
            </a:r>
          </a:p>
          <a:p>
            <a:pPr>
              <a:spcAft>
                <a:spcPts val="600"/>
              </a:spcAft>
              <a:defRPr sz="1220">
                <a:solidFill>
                  <a:srgbClr val="354152"/>
                </a:solidFill>
              </a:defRPr>
            </a:pPr>
            <a:r>
              <a:t>5. If not found, display “Process not found”.</a:t>
            </a:r>
          </a:p>
          <a:p>
            <a:pPr>
              <a:spcAft>
                <a:spcPts val="600"/>
              </a:spcAft>
              <a:defRPr sz="1220">
                <a:solidFill>
                  <a:srgbClr val="354152"/>
                </a:solidFill>
              </a:defRPr>
            </a:pPr>
            <a:r>
              <a:t>6. Display the updated memory status.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6875" y="5151755"/>
            <a:ext cx="1358900" cy="323850"/>
          </a:xfrm>
          <a:prstGeom prst="roundRect">
            <a:avLst/>
          </a:prstGeom>
          <a:solidFill>
            <a:srgbClr val="EBF1F8"/>
          </a:solidFill>
          <a:ln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74962"/>
                </a:solidFill>
              </a:defRPr>
            </a:pPr>
            <a:r>
              <a:t>START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4390" y="5105400"/>
            <a:ext cx="1476375" cy="416560"/>
          </a:xfrm>
          <a:prstGeom prst="roundRect">
            <a:avLst/>
          </a:prstGeom>
          <a:solidFill>
            <a:srgbClr val="EBF1F8"/>
          </a:solidFill>
          <a:ln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74962"/>
                </a:solidFill>
              </a:defRPr>
            </a:pPr>
            <a:r>
              <a:t>TRAVERSE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32885" y="5151755"/>
            <a:ext cx="1481455" cy="323215"/>
          </a:xfrm>
          <a:prstGeom prst="roundRect">
            <a:avLst/>
          </a:prstGeom>
          <a:solidFill>
            <a:srgbClr val="EBF1F8"/>
          </a:solidFill>
          <a:ln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74962"/>
                </a:solidFill>
              </a:defRPr>
            </a:pPr>
            <a:r>
              <a:t>CHECK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76290" y="5177155"/>
            <a:ext cx="1550035" cy="290195"/>
          </a:xfrm>
          <a:prstGeom prst="roundRect">
            <a:avLst/>
          </a:prstGeom>
          <a:solidFill>
            <a:srgbClr val="EBF1F8"/>
          </a:solidFill>
          <a:ln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74962"/>
                </a:solidFill>
              </a:defRPr>
            </a:pPr>
            <a:r>
              <a:t>ALLOCATE / RELEASE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92695" y="5152390"/>
            <a:ext cx="1304925" cy="323850"/>
          </a:xfrm>
          <a:prstGeom prst="roundRect">
            <a:avLst/>
          </a:prstGeom>
          <a:solidFill>
            <a:srgbClr val="EBF1F8"/>
          </a:solidFill>
          <a:ln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74962"/>
                </a:solidFill>
              </a:defRPr>
            </a:pPr>
            <a:r>
              <a:t>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4770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88291"/>
                </a:solidFill>
              </a:defRPr>
            </a:pPr>
            <a:r>
              <a:t>S. B. Jain Institute of Technology Management and Research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4206240" cy="17145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S. B. Jain Institute of Technology Management and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3465195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  Stage 2 – Flowchart</a:t>
            </a:r>
          </a:p>
        </p:txBody>
      </p:sp>
      <p:sp>
        <p:nvSpPr>
          <p:cNvPr id="5" name="Oval 4"/>
          <p:cNvSpPr/>
          <p:nvPr/>
        </p:nvSpPr>
        <p:spPr>
          <a:xfrm>
            <a:off x="4572000" y="1005840"/>
            <a:ext cx="1920240" cy="5029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737360"/>
            <a:ext cx="3383280" cy="50292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Initialize 1000 KB 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2468880"/>
            <a:ext cx="2926080" cy="50292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Create Linked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3200400"/>
            <a:ext cx="2926080" cy="50292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Input Process + Size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3931920"/>
            <a:ext cx="292608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Find FREE Block</a:t>
            </a:r>
          </a:p>
        </p:txBody>
      </p:sp>
      <p:sp>
        <p:nvSpPr>
          <p:cNvPr id="10" name="Diamond 9"/>
          <p:cNvSpPr/>
          <p:nvPr/>
        </p:nvSpPr>
        <p:spPr>
          <a:xfrm>
            <a:off x="4251960" y="4617720"/>
            <a:ext cx="2560320" cy="914400"/>
          </a:xfrm>
          <a:prstGeom prst="diamond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Suitable block?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65275" y="4800600"/>
            <a:ext cx="2092325" cy="560705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YES → Allocate / 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4800600"/>
            <a:ext cx="1557020" cy="49657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NO → Next block / Error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32120" y="1508760"/>
            <a:ext cx="0" cy="22860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32120" y="2240280"/>
            <a:ext cx="0" cy="22860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32120" y="2971800"/>
            <a:ext cx="0" cy="22860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532120" y="3703320"/>
            <a:ext cx="0" cy="22860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32120" y="4434840"/>
            <a:ext cx="0" cy="18288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657600" y="5074920"/>
            <a:ext cx="594360" cy="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12280" y="5074920"/>
            <a:ext cx="594360" cy="0"/>
          </a:xfrm>
          <a:prstGeom prst="line">
            <a:avLst/>
          </a:prstGeom>
          <a:ln w="2159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4869180" cy="355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S. B. Jain Institute of Technology Management and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2072640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795528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18872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298448"/>
            <a:ext cx="101498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Project Outcome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A linked-list based simulator represents FREE and allocated blocks and updates memory dynamically.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06040"/>
            <a:ext cx="3840480" cy="2270125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2625" y="2606040"/>
            <a:ext cx="76200" cy="251269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7095" y="2715895"/>
            <a:ext cx="351663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Key Outcomes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Dynamic allocation and deallocation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Block splitting when extra memory is available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Process-wise memory tracking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Clear memory-status display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7290" y="2606040"/>
            <a:ext cx="3533775" cy="26517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53000" y="2547620"/>
            <a:ext cx="73152" cy="2651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4940" y="2715895"/>
            <a:ext cx="3102610" cy="20732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Stage 2 Focus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Algorithm derived directly from the Python code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Flowchart shows the allocation decision flow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Demonstrates linked-list traversal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Foundation for future enhancements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720" y="5246370"/>
            <a:ext cx="8085455" cy="83439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Thank You  •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4079</Words>
  <Application>WPS Presentation</Application>
  <PresentationFormat>On-screen Show (4:3)</PresentationFormat>
  <Paragraphs>268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Arial</vt:lpstr>
      <vt:lpstr>Times New Roman</vt:lpstr>
      <vt:lpstr>Aptos</vt:lpstr>
      <vt:lpstr>Segoe UI</vt:lpstr>
      <vt:lpstr>Calibri</vt:lpstr>
      <vt:lpstr>Microsoft YaHei</vt:lpstr>
      <vt:lpstr>Arial Unicode MS</vt:lpstr>
      <vt:lpstr>Office Theme</vt:lpstr>
      <vt:lpstr>“ Memory Allocation Simulator ”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_x000b_Experiential Learning Project Assessment-I on_x000d_“ Memory Allocation Simulator ”</dc:title>
  <dc:creator/>
  <cp:lastModifiedBy>Suhani Kadu</cp:lastModifiedBy>
  <cp:revision>6</cp:revision>
  <dcterms:created xsi:type="dcterms:W3CDTF">2026-08-16T05:23:00Z</dcterms:created>
  <dcterms:modified xsi:type="dcterms:W3CDTF">2026-09-21T05:32:27Z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2026-08-14T22:00:00Z</vt:filetime>
  </property>
  <property fmtid="{D5CDD505-2E9C-101B-9397-08002B2CF9AE}" pid="4" name="Creator">
    <vt:lpwstr>Google</vt:lpwstr>
  </property>
  <property fmtid="{D5CDD505-2E9C-101B-9397-08002B2CF9AE}" pid="5" name="LastSaved">
    <vt:filetime>2026-08-14T22:00:00Z</vt:filetime>
  </property>
  <property fmtid="{D5CDD505-2E9C-101B-9397-08002B2CF9AE}" pid="6" name="KSOProductBuildVer">
    <vt:lpwstr>1033-12.1.0.28485</vt:lpwstr>
  </property>
  <property fmtid="{D5CDD505-2E9C-101B-9397-08002B2CF9AE}" pid="7" name="ICV">
    <vt:lpwstr>F31BB524F9534AD78A8E5B614A0A218E_13</vt:lpwstr>
  </property>
</Properties>
</file>